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5" r:id="rId16"/>
    <p:sldId id="273" r:id="rId17"/>
  </p:sldIdLst>
  <p:sldSz cx="18288000" cy="10287000"/>
  <p:notesSz cx="6858000" cy="9144000"/>
  <p:embeddedFontLst>
    <p:embeddedFont>
      <p:font typeface="Galano Grotesque Alt" pitchFamily="2" charset="77"/>
      <p:regular r:id="rId19"/>
    </p:embeddedFont>
    <p:embeddedFont>
      <p:font typeface="Galano Grotesque Alt Bold" pitchFamily="2" charset="77"/>
      <p:regular r:id="rId20"/>
      <p:bold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Bold" panose="02000000000000000000" pitchFamily="2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94653" autoAdjust="0"/>
  </p:normalViewPr>
  <p:slideViewPr>
    <p:cSldViewPr>
      <p:cViewPr>
        <p:scale>
          <a:sx n="68" d="100"/>
          <a:sy n="68" d="100"/>
        </p:scale>
        <p:origin x="904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DBB66-1E9F-1544-A5CE-8405772EAE41}" type="datetimeFigureOut">
              <a:rPr lang="en-PL" smtClean="0"/>
              <a:t>18/10/2026</a:t>
            </a:fld>
            <a:endParaRPr lang="en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A07FE-534E-FA46-BC89-1D7651CB106C}" type="slidenum">
              <a:rPr lang="en-PL" smtClean="0"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545741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A07FE-534E-FA46-BC89-1D7651CB106C}" type="slidenum">
              <a:rPr lang="en-PL" smtClean="0"/>
              <a:t>3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632121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00200" y="633764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 flipH="1" flipV="1">
            <a:off x="11673891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l="-99999" t="-14295" b="-14295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1409700" y="1871893"/>
            <a:ext cx="7772400" cy="4154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 spc="-480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Optymalna</a:t>
            </a:r>
            <a:r>
              <a:rPr lang="en-US" sz="12000" b="1" spc="-480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Warszawa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0200" y="7686600"/>
            <a:ext cx="433722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DOMINIK KILIAN</a:t>
            </a:r>
          </a:p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PATRYK BASIAK</a:t>
            </a:r>
          </a:p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BARTOSZ NOSKOWICZ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0200" y="7058903"/>
            <a:ext cx="433722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The Bills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11050578" y="0"/>
            <a:ext cx="7237422" cy="10287000"/>
          </a:xfrm>
          <a:custGeom>
            <a:avLst/>
            <a:gdLst/>
            <a:ahLst/>
            <a:cxnLst/>
            <a:rect l="l" t="t" r="r" b="b"/>
            <a:pathLst>
              <a:path w="7237422" h="10287000">
                <a:moveTo>
                  <a:pt x="0" y="0"/>
                </a:moveTo>
                <a:lnTo>
                  <a:pt x="7237422" y="0"/>
                </a:lnTo>
                <a:lnTo>
                  <a:pt x="72374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692" r="-89580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953544"/>
            <a:ext cx="6923762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Według serwisu tomtom.com Warszawa jest 32 najbardziej zakorkowanym miastem w Europie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623958"/>
            <a:ext cx="7013024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spc="192" dirty="0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WARSZAWA JEST ZIEJ ZAKORKOWANYCH MIAST W EUROPIE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3" name="AutoShape 3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Nasze rozwiązanie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36613" y="3627713"/>
            <a:ext cx="9017495" cy="5499426"/>
            <a:chOff x="0" y="0"/>
            <a:chExt cx="2374978" cy="14484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74978" cy="1448409"/>
            </a:xfrm>
            <a:custGeom>
              <a:avLst/>
              <a:gdLst/>
              <a:ahLst/>
              <a:cxnLst/>
              <a:rect l="l" t="t" r="r" b="b"/>
              <a:pathLst>
                <a:path w="2374978" h="1448409">
                  <a:moveTo>
                    <a:pt x="8585" y="0"/>
                  </a:moveTo>
                  <a:lnTo>
                    <a:pt x="2366393" y="0"/>
                  </a:lnTo>
                  <a:cubicBezTo>
                    <a:pt x="2371134" y="0"/>
                    <a:pt x="2374978" y="3844"/>
                    <a:pt x="2374978" y="8585"/>
                  </a:cubicBezTo>
                  <a:lnTo>
                    <a:pt x="2374978" y="1439823"/>
                  </a:lnTo>
                  <a:cubicBezTo>
                    <a:pt x="2374978" y="1442100"/>
                    <a:pt x="2374074" y="1444284"/>
                    <a:pt x="2372464" y="1445894"/>
                  </a:cubicBezTo>
                  <a:cubicBezTo>
                    <a:pt x="2370853" y="1447504"/>
                    <a:pt x="2368670" y="1448409"/>
                    <a:pt x="2366393" y="1448409"/>
                  </a:cubicBezTo>
                  <a:lnTo>
                    <a:pt x="8585" y="1448409"/>
                  </a:lnTo>
                  <a:cubicBezTo>
                    <a:pt x="3844" y="1448409"/>
                    <a:pt x="0" y="1444565"/>
                    <a:pt x="0" y="1439823"/>
                  </a:cubicBezTo>
                  <a:lnTo>
                    <a:pt x="0" y="8585"/>
                  </a:lnTo>
                  <a:cubicBezTo>
                    <a:pt x="0" y="3844"/>
                    <a:pt x="3844" y="0"/>
                    <a:pt x="8585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52400"/>
              <a:ext cx="2374978" cy="1600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13988" y="4156193"/>
            <a:ext cx="7553185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  <a:spcBef>
                <a:spcPct val="0"/>
              </a:spcBef>
            </a:pPr>
            <a:r>
              <a:rPr lang="en-US" sz="4200" spc="84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System </a:t>
            </a:r>
            <a:r>
              <a:rPr lang="en-US" sz="4200" spc="84" dirty="0" err="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agregacji</a:t>
            </a:r>
            <a:r>
              <a:rPr lang="en-US" sz="4200" spc="84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4200" spc="84" dirty="0" err="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i</a:t>
            </a:r>
            <a:r>
              <a:rPr lang="en-US" sz="4200" spc="84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4200" spc="84" dirty="0" err="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wizualizacji</a:t>
            </a:r>
            <a:r>
              <a:rPr lang="en-US" sz="4200" spc="84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4200" spc="84" dirty="0" err="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danych</a:t>
            </a:r>
            <a:r>
              <a:rPr lang="en-US" sz="4200" spc="84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4200" spc="84" dirty="0" err="1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miejskich</a:t>
            </a:r>
            <a:endParaRPr lang="en-US" sz="4200" spc="84" dirty="0">
              <a:solidFill>
                <a:srgbClr val="000000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6060549"/>
            <a:ext cx="6923762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Nasz system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pozwoli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przewidzieć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wpływ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zmian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układzie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komunikacji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miejskiej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Pozwoli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robić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wizualizacje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799" spc="55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99" spc="55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pomiary</a:t>
            </a:r>
            <a:endParaRPr lang="en-US" sz="2799" spc="55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3774819" y="681525"/>
            <a:ext cx="10196865" cy="8923949"/>
          </a:xfrm>
          <a:custGeom>
            <a:avLst/>
            <a:gdLst/>
            <a:ahLst/>
            <a:cxnLst/>
            <a:rect l="l" t="t" r="r" b="b"/>
            <a:pathLst>
              <a:path w="10196865" h="8923949">
                <a:moveTo>
                  <a:pt x="0" y="0"/>
                </a:moveTo>
                <a:lnTo>
                  <a:pt x="10196864" y="0"/>
                </a:lnTo>
                <a:lnTo>
                  <a:pt x="10196864" y="8923950"/>
                </a:lnTo>
                <a:lnTo>
                  <a:pt x="0" y="892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Mapa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11617148" y="1452880"/>
            <a:ext cx="5339105" cy="4199209"/>
          </a:xfrm>
          <a:custGeom>
            <a:avLst/>
            <a:gdLst/>
            <a:ahLst/>
            <a:cxnLst/>
            <a:rect l="l" t="t" r="r" b="b"/>
            <a:pathLst>
              <a:path w="5339105" h="4199209">
                <a:moveTo>
                  <a:pt x="0" y="0"/>
                </a:moveTo>
                <a:lnTo>
                  <a:pt x="5339105" y="0"/>
                </a:lnTo>
                <a:lnTo>
                  <a:pt x="5339105" y="4199209"/>
                </a:lnTo>
                <a:lnTo>
                  <a:pt x="0" y="4199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3887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Freeform 4"/>
          <p:cNvSpPr/>
          <p:nvPr/>
        </p:nvSpPr>
        <p:spPr>
          <a:xfrm>
            <a:off x="1667205" y="2561097"/>
            <a:ext cx="9406798" cy="6925755"/>
          </a:xfrm>
          <a:custGeom>
            <a:avLst/>
            <a:gdLst/>
            <a:ahLst/>
            <a:cxnLst/>
            <a:rect l="l" t="t" r="r" b="b"/>
            <a:pathLst>
              <a:path w="9406798" h="6925755">
                <a:moveTo>
                  <a:pt x="0" y="0"/>
                </a:moveTo>
                <a:lnTo>
                  <a:pt x="9406798" y="0"/>
                </a:lnTo>
                <a:lnTo>
                  <a:pt x="9406798" y="6925754"/>
                </a:lnTo>
                <a:lnTo>
                  <a:pt x="0" y="6925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5" name="Freeform 5"/>
          <p:cNvSpPr/>
          <p:nvPr/>
        </p:nvSpPr>
        <p:spPr>
          <a:xfrm>
            <a:off x="11359502" y="6393968"/>
            <a:ext cx="5899798" cy="2134294"/>
          </a:xfrm>
          <a:custGeom>
            <a:avLst/>
            <a:gdLst/>
            <a:ahLst/>
            <a:cxnLst/>
            <a:rect l="l" t="t" r="r" b="b"/>
            <a:pathLst>
              <a:path w="5899798" h="2134294">
                <a:moveTo>
                  <a:pt x="0" y="0"/>
                </a:moveTo>
                <a:lnTo>
                  <a:pt x="5899798" y="0"/>
                </a:lnTo>
                <a:lnTo>
                  <a:pt x="5899798" y="2134293"/>
                </a:lnTo>
                <a:lnTo>
                  <a:pt x="0" y="2134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6" name="TextBox 6"/>
          <p:cNvSpPr txBox="1"/>
          <p:nvPr/>
        </p:nvSpPr>
        <p:spPr>
          <a:xfrm>
            <a:off x="1028700" y="904875"/>
            <a:ext cx="8457981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Mapa - wiecej niż tylko ulice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11364581" y="520642"/>
            <a:ext cx="5422971" cy="8557636"/>
          </a:xfrm>
          <a:custGeom>
            <a:avLst/>
            <a:gdLst/>
            <a:ahLst/>
            <a:cxnLst/>
            <a:rect l="l" t="t" r="r" b="b"/>
            <a:pathLst>
              <a:path w="5422971" h="8557636">
                <a:moveTo>
                  <a:pt x="0" y="0"/>
                </a:moveTo>
                <a:lnTo>
                  <a:pt x="5422971" y="0"/>
                </a:lnTo>
                <a:lnTo>
                  <a:pt x="5422971" y="8557635"/>
                </a:lnTo>
                <a:lnTo>
                  <a:pt x="0" y="855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Freeform 4"/>
          <p:cNvSpPr/>
          <p:nvPr/>
        </p:nvSpPr>
        <p:spPr>
          <a:xfrm>
            <a:off x="1493300" y="2484713"/>
            <a:ext cx="8390320" cy="6259179"/>
          </a:xfrm>
          <a:custGeom>
            <a:avLst/>
            <a:gdLst/>
            <a:ahLst/>
            <a:cxnLst/>
            <a:rect l="l" t="t" r="r" b="b"/>
            <a:pathLst>
              <a:path w="8390320" h="6259179">
                <a:moveTo>
                  <a:pt x="0" y="0"/>
                </a:moveTo>
                <a:lnTo>
                  <a:pt x="8390320" y="0"/>
                </a:lnTo>
                <a:lnTo>
                  <a:pt x="8390320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5" name="TextBox 5"/>
          <p:cNvSpPr txBox="1"/>
          <p:nvPr/>
        </p:nvSpPr>
        <p:spPr>
          <a:xfrm>
            <a:off x="1028700" y="904875"/>
            <a:ext cx="10335881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Warszawa </a:t>
            </a: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jako</a:t>
            </a:r>
            <a:r>
              <a:rPr lang="en-US" sz="5600" b="1" spc="-22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zbiór</a:t>
            </a:r>
            <a:r>
              <a:rPr lang="en-US" sz="5600" b="1" spc="-22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heksagonów</a:t>
            </a: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76109" y="4987607"/>
            <a:ext cx="53578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Treść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9608" y="8962967"/>
            <a:ext cx="925770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 err="1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warszawa</a:t>
            </a:r>
            <a:r>
              <a:rPr lang="en-US" sz="1599" dirty="0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1599" dirty="0" err="1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została</a:t>
            </a:r>
            <a:r>
              <a:rPr lang="en-US" sz="1599" dirty="0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1599" dirty="0" err="1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podzielona</a:t>
            </a:r>
            <a:r>
              <a:rPr lang="en-US" sz="1599" dirty="0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1599" dirty="0" err="1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na</a:t>
            </a:r>
            <a:r>
              <a:rPr lang="en-US" sz="1599" dirty="0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848 </a:t>
            </a:r>
            <a:r>
              <a:rPr lang="en-US" sz="1599" dirty="0" err="1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heksagonów</a:t>
            </a:r>
            <a:r>
              <a:rPr lang="en-US" sz="1599" dirty="0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o </a:t>
            </a:r>
            <a:r>
              <a:rPr lang="en-US" sz="1599" dirty="0" err="1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wielkości</a:t>
            </a:r>
            <a:r>
              <a:rPr lang="en-US" sz="1599" dirty="0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o </a:t>
            </a:r>
            <a:r>
              <a:rPr lang="en-US" sz="1599" dirty="0" err="1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powierzchni</a:t>
            </a:r>
            <a:r>
              <a:rPr lang="en-US" sz="1599" dirty="0">
                <a:solidFill>
                  <a:srgbClr val="431D68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ok. 0,68 km^2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121777" y="4147535"/>
            <a:ext cx="18044445" cy="2830722"/>
          </a:xfrm>
          <a:custGeom>
            <a:avLst/>
            <a:gdLst/>
            <a:ahLst/>
            <a:cxnLst/>
            <a:rect l="l" t="t" r="r" b="b"/>
            <a:pathLst>
              <a:path w="18044445" h="2830722">
                <a:moveTo>
                  <a:pt x="0" y="0"/>
                </a:moveTo>
                <a:lnTo>
                  <a:pt x="18044446" y="0"/>
                </a:lnTo>
                <a:lnTo>
                  <a:pt x="18044446" y="2830723"/>
                </a:lnTo>
                <a:lnTo>
                  <a:pt x="0" y="2830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756354" y="101600"/>
            <a:ext cx="17865636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-2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Algorytm wyszukiwania wskaźnika</a:t>
            </a:r>
          </a:p>
          <a:p>
            <a:pPr algn="l">
              <a:lnSpc>
                <a:spcPts val="7000"/>
              </a:lnSpc>
            </a:pPr>
            <a:r>
              <a:rPr lang="en-US" sz="5000" b="1" spc="-2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wykluczenia danego heksagonu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1427" y="2526688"/>
            <a:ext cx="14388857" cy="105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UżyliŚmy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sieci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neuronowej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MLP (Multi-Layer-Perceptron) do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przewidywania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stworzonej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przez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nas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etykiety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“Target”,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która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została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wyliczona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ze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wzoru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0064" y="7654533"/>
            <a:ext cx="15687873" cy="1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Sama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sieć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poza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wyżej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wymienionymi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została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wytrenowana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wszystkich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danych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które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udało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sie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znaleźć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danym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heksagonie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m.in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położeniu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geograficznym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średniej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liczbie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kursów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ZTM w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danym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heksagonie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danych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infrastrukturze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średniej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odległości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do centrum,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udziale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seniorów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spc="182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itd</a:t>
            </a:r>
            <a:r>
              <a:rPr lang="en-US" sz="2400" spc="182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82607" y="1769240"/>
            <a:ext cx="10322785" cy="6748521"/>
          </a:xfrm>
          <a:custGeom>
            <a:avLst/>
            <a:gdLst/>
            <a:ahLst/>
            <a:cxnLst/>
            <a:rect l="l" t="t" r="r" b="b"/>
            <a:pathLst>
              <a:path w="10322785" h="6748521">
                <a:moveTo>
                  <a:pt x="0" y="0"/>
                </a:moveTo>
                <a:lnTo>
                  <a:pt x="10322786" y="0"/>
                </a:lnTo>
                <a:lnTo>
                  <a:pt x="10322786" y="6748520"/>
                </a:lnTo>
                <a:lnTo>
                  <a:pt x="0" y="674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965676" y="1028700"/>
            <a:ext cx="5068845" cy="2507053"/>
          </a:xfrm>
          <a:custGeom>
            <a:avLst/>
            <a:gdLst/>
            <a:ahLst/>
            <a:cxnLst/>
            <a:rect l="l" t="t" r="r" b="b"/>
            <a:pathLst>
              <a:path w="5068845" h="2507053">
                <a:moveTo>
                  <a:pt x="0" y="0"/>
                </a:moveTo>
                <a:lnTo>
                  <a:pt x="5068845" y="0"/>
                </a:lnTo>
                <a:lnTo>
                  <a:pt x="5068845" y="2507053"/>
                </a:lnTo>
                <a:lnTo>
                  <a:pt x="0" y="2507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Freeform 4"/>
          <p:cNvSpPr/>
          <p:nvPr/>
        </p:nvSpPr>
        <p:spPr>
          <a:xfrm>
            <a:off x="1028700" y="6668704"/>
            <a:ext cx="4942797" cy="2589596"/>
          </a:xfrm>
          <a:custGeom>
            <a:avLst/>
            <a:gdLst/>
            <a:ahLst/>
            <a:cxnLst/>
            <a:rect l="l" t="t" r="r" b="b"/>
            <a:pathLst>
              <a:path w="4942797" h="2589596">
                <a:moveTo>
                  <a:pt x="0" y="0"/>
                </a:moveTo>
                <a:lnTo>
                  <a:pt x="4942797" y="0"/>
                </a:lnTo>
                <a:lnTo>
                  <a:pt x="4942797" y="2589596"/>
                </a:lnTo>
                <a:lnTo>
                  <a:pt x="0" y="25895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5" name="Freeform 5"/>
          <p:cNvSpPr/>
          <p:nvPr/>
        </p:nvSpPr>
        <p:spPr>
          <a:xfrm>
            <a:off x="12316503" y="1028700"/>
            <a:ext cx="4942797" cy="2499547"/>
          </a:xfrm>
          <a:custGeom>
            <a:avLst/>
            <a:gdLst/>
            <a:ahLst/>
            <a:cxnLst/>
            <a:rect l="l" t="t" r="r" b="b"/>
            <a:pathLst>
              <a:path w="4942797" h="2499547">
                <a:moveTo>
                  <a:pt x="0" y="0"/>
                </a:moveTo>
                <a:lnTo>
                  <a:pt x="4942797" y="0"/>
                </a:lnTo>
                <a:lnTo>
                  <a:pt x="4942797" y="2499547"/>
                </a:lnTo>
                <a:lnTo>
                  <a:pt x="0" y="24995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6" name="Freeform 6"/>
          <p:cNvSpPr/>
          <p:nvPr/>
        </p:nvSpPr>
        <p:spPr>
          <a:xfrm>
            <a:off x="12316503" y="6661198"/>
            <a:ext cx="4942797" cy="2334403"/>
          </a:xfrm>
          <a:custGeom>
            <a:avLst/>
            <a:gdLst/>
            <a:ahLst/>
            <a:cxnLst/>
            <a:rect l="l" t="t" r="r" b="b"/>
            <a:pathLst>
              <a:path w="4942797" h="2334403">
                <a:moveTo>
                  <a:pt x="0" y="0"/>
                </a:moveTo>
                <a:lnTo>
                  <a:pt x="4942797" y="0"/>
                </a:lnTo>
                <a:lnTo>
                  <a:pt x="4942797" y="2334403"/>
                </a:lnTo>
                <a:lnTo>
                  <a:pt x="0" y="2334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4801B62-2A08-8112-AC26-F9A1CF68CA22}"/>
              </a:ext>
            </a:extLst>
          </p:cNvPr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590135" y="7540236"/>
            <a:ext cx="4968010" cy="1538041"/>
          </a:xfrm>
          <a:custGeom>
            <a:avLst/>
            <a:gdLst/>
            <a:ahLst/>
            <a:cxnLst/>
            <a:rect l="l" t="t" r="r" b="b"/>
            <a:pathLst>
              <a:path w="4968010" h="1538041">
                <a:moveTo>
                  <a:pt x="0" y="0"/>
                </a:moveTo>
                <a:lnTo>
                  <a:pt x="4968010" y="0"/>
                </a:lnTo>
                <a:lnTo>
                  <a:pt x="4968010" y="1538041"/>
                </a:lnTo>
                <a:lnTo>
                  <a:pt x="0" y="153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pic>
        <p:nvPicPr>
          <p:cNvPr id="4" name="Picture 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6241669" y="636187"/>
            <a:ext cx="10138151" cy="797187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28700" y="904875"/>
            <a:ext cx="4090879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Symulator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0135" y="2671484"/>
            <a:ext cx="4968010" cy="384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156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Parametry symulacji:</a:t>
            </a:r>
          </a:p>
          <a:p>
            <a:pPr marL="681395" lvl="1" indent="-340697" algn="l">
              <a:lnSpc>
                <a:spcPts val="4418"/>
              </a:lnSpc>
              <a:buFont typeface="Arial"/>
              <a:buChar char="•"/>
            </a:pPr>
            <a:r>
              <a:rPr lang="en-US" sz="3156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dane z rozkładu jazdy</a:t>
            </a:r>
          </a:p>
          <a:p>
            <a:pPr marL="681395" lvl="1" indent="-340697" algn="l">
              <a:lnSpc>
                <a:spcPts val="4418"/>
              </a:lnSpc>
              <a:buFont typeface="Arial"/>
              <a:buChar char="•"/>
            </a:pPr>
            <a:r>
              <a:rPr lang="en-US" sz="3156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liczba pasażerów jest na podstawie osób w danym klastrze i udziału komunikacji miejskiej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2601885" y="2634180"/>
            <a:ext cx="13084230" cy="6264075"/>
          </a:xfrm>
          <a:custGeom>
            <a:avLst/>
            <a:gdLst/>
            <a:ahLst/>
            <a:cxnLst/>
            <a:rect l="l" t="t" r="r" b="b"/>
            <a:pathLst>
              <a:path w="13084230" h="6264075">
                <a:moveTo>
                  <a:pt x="0" y="0"/>
                </a:moveTo>
                <a:lnTo>
                  <a:pt x="13084230" y="0"/>
                </a:lnTo>
                <a:lnTo>
                  <a:pt x="13084230" y="6264075"/>
                </a:lnTo>
                <a:lnTo>
                  <a:pt x="0" y="626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9318821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Edytor</a:t>
            </a:r>
            <a:r>
              <a:rPr lang="en-US" sz="5600" b="1" spc="-22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Tras - </a:t>
            </a: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rysowanie</a:t>
            </a: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2601885" y="2617825"/>
            <a:ext cx="13084230" cy="6280430"/>
          </a:xfrm>
          <a:custGeom>
            <a:avLst/>
            <a:gdLst/>
            <a:ahLst/>
            <a:cxnLst/>
            <a:rect l="l" t="t" r="r" b="b"/>
            <a:pathLst>
              <a:path w="13084230" h="6280430">
                <a:moveTo>
                  <a:pt x="0" y="0"/>
                </a:moveTo>
                <a:lnTo>
                  <a:pt x="13084230" y="0"/>
                </a:lnTo>
                <a:lnTo>
                  <a:pt x="13084230" y="6280430"/>
                </a:lnTo>
                <a:lnTo>
                  <a:pt x="0" y="628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1028700" y="904875"/>
            <a:ext cx="9318821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Edytor</a:t>
            </a:r>
            <a:r>
              <a:rPr lang="en-US" sz="5600" b="1" spc="-22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Tras - </a:t>
            </a: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edycja</a:t>
            </a: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91241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grpSp>
        <p:nvGrpSpPr>
          <p:cNvPr id="3" name="Group 3"/>
          <p:cNvGrpSpPr/>
          <p:nvPr/>
        </p:nvGrpSpPr>
        <p:grpSpPr>
          <a:xfrm>
            <a:off x="4056533" y="2351569"/>
            <a:ext cx="10174934" cy="2696681"/>
            <a:chOff x="0" y="0"/>
            <a:chExt cx="13566579" cy="35955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46158" cy="3595575"/>
            </a:xfrm>
            <a:custGeom>
              <a:avLst/>
              <a:gdLst/>
              <a:ahLst/>
              <a:cxnLst/>
              <a:rect l="l" t="t" r="r" b="b"/>
              <a:pathLst>
                <a:path w="5546158" h="3595575">
                  <a:moveTo>
                    <a:pt x="0" y="0"/>
                  </a:moveTo>
                  <a:lnTo>
                    <a:pt x="5546158" y="0"/>
                  </a:lnTo>
                  <a:lnTo>
                    <a:pt x="5546158" y="3595575"/>
                  </a:lnTo>
                  <a:lnTo>
                    <a:pt x="0" y="3595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PL"/>
            </a:p>
          </p:txBody>
        </p:sp>
        <p:sp>
          <p:nvSpPr>
            <p:cNvPr id="5" name="Freeform 5"/>
            <p:cNvSpPr/>
            <p:nvPr/>
          </p:nvSpPr>
          <p:spPr>
            <a:xfrm>
              <a:off x="8288226" y="0"/>
              <a:ext cx="5278352" cy="3595575"/>
            </a:xfrm>
            <a:custGeom>
              <a:avLst/>
              <a:gdLst/>
              <a:ahLst/>
              <a:cxnLst/>
              <a:rect l="l" t="t" r="r" b="b"/>
              <a:pathLst>
                <a:path w="5278352" h="3595575">
                  <a:moveTo>
                    <a:pt x="0" y="0"/>
                  </a:moveTo>
                  <a:lnTo>
                    <a:pt x="5278353" y="0"/>
                  </a:lnTo>
                  <a:lnTo>
                    <a:pt x="5278353" y="3595575"/>
                  </a:lnTo>
                  <a:lnTo>
                    <a:pt x="0" y="3595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L"/>
            </a:p>
          </p:txBody>
        </p:sp>
        <p:sp>
          <p:nvSpPr>
            <p:cNvPr id="6" name="Freeform 6"/>
            <p:cNvSpPr/>
            <p:nvPr/>
          </p:nvSpPr>
          <p:spPr>
            <a:xfrm>
              <a:off x="5904658" y="1268170"/>
              <a:ext cx="2025991" cy="1144685"/>
            </a:xfrm>
            <a:custGeom>
              <a:avLst/>
              <a:gdLst/>
              <a:ahLst/>
              <a:cxnLst/>
              <a:rect l="l" t="t" r="r" b="b"/>
              <a:pathLst>
                <a:path w="2025991" h="1144685">
                  <a:moveTo>
                    <a:pt x="0" y="0"/>
                  </a:moveTo>
                  <a:lnTo>
                    <a:pt x="2025991" y="0"/>
                  </a:lnTo>
                  <a:lnTo>
                    <a:pt x="2025991" y="1144684"/>
                  </a:lnTo>
                  <a:lnTo>
                    <a:pt x="0" y="114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L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6246495"/>
            <a:ext cx="12237234" cy="2661198"/>
          </a:xfrm>
          <a:custGeom>
            <a:avLst/>
            <a:gdLst/>
            <a:ahLst/>
            <a:cxnLst/>
            <a:rect l="l" t="t" r="r" b="b"/>
            <a:pathLst>
              <a:path w="12237234" h="2661198">
                <a:moveTo>
                  <a:pt x="0" y="0"/>
                </a:moveTo>
                <a:lnTo>
                  <a:pt x="12237234" y="0"/>
                </a:lnTo>
                <a:lnTo>
                  <a:pt x="12237234" y="2661198"/>
                </a:lnTo>
                <a:lnTo>
                  <a:pt x="0" y="2661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8" name="Freeform 8"/>
          <p:cNvSpPr/>
          <p:nvPr/>
        </p:nvSpPr>
        <p:spPr>
          <a:xfrm>
            <a:off x="13441841" y="5324475"/>
            <a:ext cx="3428127" cy="4422211"/>
          </a:xfrm>
          <a:custGeom>
            <a:avLst/>
            <a:gdLst/>
            <a:ahLst/>
            <a:cxnLst/>
            <a:rect l="l" t="t" r="r" b="b"/>
            <a:pathLst>
              <a:path w="3428127" h="4422211">
                <a:moveTo>
                  <a:pt x="0" y="0"/>
                </a:moveTo>
                <a:lnTo>
                  <a:pt x="3428127" y="0"/>
                </a:lnTo>
                <a:lnTo>
                  <a:pt x="3428127" y="4422211"/>
                </a:lnTo>
                <a:lnTo>
                  <a:pt x="0" y="4422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9" name="TextBox 9"/>
          <p:cNvSpPr txBox="1"/>
          <p:nvPr/>
        </p:nvSpPr>
        <p:spPr>
          <a:xfrm>
            <a:off x="1028700" y="280766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Funkcje dodatkowe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660420"/>
            <a:ext cx="8160306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AUTOMATYCZNE DODAWANIE PRZYSTANKÓW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172075"/>
            <a:ext cx="5977487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 b="1" spc="38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ESTYMOWANE STATYSTYKI LINII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91241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>
            <a:off x="4311599" y="2289067"/>
            <a:ext cx="9664802" cy="5708866"/>
          </a:xfrm>
          <a:custGeom>
            <a:avLst/>
            <a:gdLst/>
            <a:ahLst/>
            <a:cxnLst/>
            <a:rect l="l" t="t" r="r" b="b"/>
            <a:pathLst>
              <a:path w="9664802" h="5708866">
                <a:moveTo>
                  <a:pt x="0" y="0"/>
                </a:moveTo>
                <a:lnTo>
                  <a:pt x="9664802" y="0"/>
                </a:lnTo>
                <a:lnTo>
                  <a:pt x="9664802" y="5708866"/>
                </a:lnTo>
                <a:lnTo>
                  <a:pt x="0" y="5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TextBox 4"/>
          <p:cNvSpPr txBox="1"/>
          <p:nvPr/>
        </p:nvSpPr>
        <p:spPr>
          <a:xfrm>
            <a:off x="1028700" y="280766"/>
            <a:ext cx="6923762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Funkcje dodatkowe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91241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TextBox 3"/>
          <p:cNvSpPr txBox="1"/>
          <p:nvPr/>
        </p:nvSpPr>
        <p:spPr>
          <a:xfrm>
            <a:off x="1028700" y="280766"/>
            <a:ext cx="10846816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Zbiory danych z których korzystamy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95500" y="2209800"/>
            <a:ext cx="14097000" cy="543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OpenStreetMap: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ulice, chodniki, budynki, obiekty, granice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GTFS ZTM (mkuran.pl):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rozkład jazdy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API Warszawy: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przystanki, linie na przystankach, pojazdy na żywo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Veturilo (GBFS Nextbike):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stacje rowerowe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GUS NSP 2021 i 2011: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ludność w siatce 1 km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GUS BDL: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ludność dzielnic, mieszkania, prognoza GUS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Kontur Population: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heksagony H3 z ludnością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JRC GHSL: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ludność w siatce 100 m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GUNB: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pozwolenia na budowę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GUGiK: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działki i adresy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Plany inwestycji: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metro, tramwaje, kolej</a:t>
            </a:r>
          </a:p>
          <a:p>
            <a:pPr algn="l">
              <a:lnSpc>
                <a:spcPts val="3334"/>
              </a:lnSpc>
            </a:pPr>
            <a:r>
              <a:rPr lang="en-US" sz="2299" b="1">
                <a:solidFill>
                  <a:srgbClr val="111111"/>
                </a:solidFill>
                <a:latin typeface="Galano Grotesque Alt Bold"/>
                <a:ea typeface="Galano Grotesque Alt Bold"/>
                <a:cs typeface="Galano Grotesque Alt Bold"/>
                <a:sym typeface="Galano Grotesque Alt Bold"/>
              </a:rPr>
              <a:t>• Metro Warszawskie (Wikipedia) i ZTM 2024: </a:t>
            </a:r>
            <a:r>
              <a:rPr lang="en-US" sz="2299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pasażerowie metra</a:t>
            </a:r>
          </a:p>
          <a:p>
            <a:pPr algn="l">
              <a:lnSpc>
                <a:spcPts val="3334"/>
              </a:lnSpc>
            </a:pPr>
            <a:endParaRPr lang="en-US" sz="2299">
              <a:solidFill>
                <a:srgbClr val="D6303C"/>
              </a:solidFill>
              <a:latin typeface="Galano Grotesque Alt"/>
              <a:ea typeface="Galano Grotesque Alt"/>
              <a:cs typeface="Galano Grotesque Alt"/>
              <a:sym typeface="Galano Grotesque A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FBCAB-989D-66EC-56EC-761856F4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B70847-C6E3-65ED-65C3-5950F5944165}"/>
              </a:ext>
            </a:extLst>
          </p:cNvPr>
          <p:cNvSpPr/>
          <p:nvPr/>
        </p:nvSpPr>
        <p:spPr>
          <a:xfrm>
            <a:off x="1028700" y="1491241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CEE017-800C-2B8E-D87F-40E2CBCDF528}"/>
              </a:ext>
            </a:extLst>
          </p:cNvPr>
          <p:cNvSpPr txBox="1"/>
          <p:nvPr/>
        </p:nvSpPr>
        <p:spPr>
          <a:xfrm>
            <a:off x="1028700" y="280766"/>
            <a:ext cx="10846816" cy="92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Dalszy</a:t>
            </a:r>
            <a:r>
              <a:rPr lang="en-US" sz="5600" b="1" spc="-224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5600" b="1" spc="-224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rozwój</a:t>
            </a:r>
            <a:endParaRPr lang="en-US" sz="5600" b="1" spc="-224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820B1EF-838F-FE03-5AF8-6F481A8632FB}"/>
              </a:ext>
            </a:extLst>
          </p:cNvPr>
          <p:cNvSpPr txBox="1"/>
          <p:nvPr/>
        </p:nvSpPr>
        <p:spPr>
          <a:xfrm>
            <a:off x="16653205" y="8745855"/>
            <a:ext cx="606095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2400" b="1" spc="384" dirty="0">
                <a:solidFill>
                  <a:srgbClr val="FF5347"/>
                </a:solidFill>
                <a:latin typeface="Roboto Bold"/>
                <a:ea typeface="Roboto Bold"/>
                <a:cs typeface="Roboto Bold"/>
                <a:sym typeface="Roboto Bold"/>
              </a:rPr>
              <a:t>14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D916B1D-0F6F-AAB4-A6FD-C509AF93569D}"/>
              </a:ext>
            </a:extLst>
          </p:cNvPr>
          <p:cNvSpPr txBox="1"/>
          <p:nvPr/>
        </p:nvSpPr>
        <p:spPr>
          <a:xfrm>
            <a:off x="1066800" y="4995825"/>
            <a:ext cx="14097000" cy="83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334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Dane </a:t>
            </a:r>
            <a:r>
              <a:rPr lang="en-US" sz="24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na</a:t>
            </a:r>
            <a:r>
              <a:rPr lang="en-US" sz="24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4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żywo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: 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prędkości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z GPS 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pojazdów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ZTM 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zamiast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rozkładowych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. Mamy 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już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do 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tego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gotowy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4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skrypt</a:t>
            </a:r>
            <a:r>
              <a:rPr lang="en-US" sz="24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29A6C-D392-90A1-D1C6-61274AE989BA}"/>
              </a:ext>
            </a:extLst>
          </p:cNvPr>
          <p:cNvSpPr txBox="1"/>
          <p:nvPr/>
        </p:nvSpPr>
        <p:spPr>
          <a:xfrm>
            <a:off x="1028700" y="4042774"/>
            <a:ext cx="12221615" cy="946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334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Ruch </a:t>
            </a:r>
            <a:r>
              <a:rPr lang="en-US" sz="28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drogowy</a:t>
            </a:r>
            <a:r>
              <a:rPr lang="en-US" sz="2800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: 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natężenie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,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remonty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i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objazdy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z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danych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miasta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i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ZDM.</a:t>
            </a:r>
          </a:p>
          <a:p>
            <a:endParaRPr lang="en-PL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CDF2C-0BFB-C80F-0761-1C8F0B136A03}"/>
              </a:ext>
            </a:extLst>
          </p:cNvPr>
          <p:cNvSpPr txBox="1"/>
          <p:nvPr/>
        </p:nvSpPr>
        <p:spPr>
          <a:xfrm>
            <a:off x="1134213" y="1870752"/>
            <a:ext cx="15738604" cy="946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334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Rzeczywiste</a:t>
            </a:r>
            <a:r>
              <a:rPr lang="en-US" sz="28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potoki</a:t>
            </a:r>
            <a:r>
              <a:rPr lang="en-US" sz="28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pasażerów</a:t>
            </a:r>
            <a:r>
              <a:rPr lang="en-US" sz="2800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: 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dane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z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biletów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i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liczników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ZTM do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sprawdzenia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modelu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.</a:t>
            </a:r>
          </a:p>
          <a:p>
            <a:endParaRPr lang="en-PL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082CA-7B76-6597-576C-D8A7CD71102A}"/>
              </a:ext>
            </a:extLst>
          </p:cNvPr>
          <p:cNvSpPr txBox="1"/>
          <p:nvPr/>
        </p:nvSpPr>
        <p:spPr>
          <a:xfrm>
            <a:off x="1028700" y="2956763"/>
            <a:ext cx="12539010" cy="946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334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Cała</a:t>
            </a:r>
            <a:r>
              <a:rPr lang="en-US" sz="28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aglomeracja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: 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gminy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podwarszawskie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, Koleje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Mazowieckie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i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WKD.</a:t>
            </a:r>
          </a:p>
          <a:p>
            <a:endParaRPr lang="en-PL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04EBAC-6A0B-839D-6E5C-0103C65D2018}"/>
              </a:ext>
            </a:extLst>
          </p:cNvPr>
          <p:cNvSpPr txBox="1"/>
          <p:nvPr/>
        </p:nvSpPr>
        <p:spPr>
          <a:xfrm>
            <a:off x="997871" y="6448187"/>
            <a:ext cx="12607939" cy="946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334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Koszt </a:t>
            </a:r>
            <a:r>
              <a:rPr lang="en-US" sz="2800" b="1" dirty="0" err="1">
                <a:latin typeface="Galano Grotesque Alt"/>
                <a:ea typeface="Galano Grotesque Alt"/>
                <a:cs typeface="Galano Grotesque Alt"/>
                <a:sym typeface="Galano Grotesque Alt"/>
              </a:rPr>
              <a:t>linii</a:t>
            </a:r>
            <a:r>
              <a:rPr lang="en-US" sz="2800" b="1" dirty="0">
                <a:latin typeface="Galano Grotesque Alt"/>
                <a:ea typeface="Galano Grotesque Alt"/>
                <a:cs typeface="Galano Grotesque Alt"/>
                <a:sym typeface="Galano Grotesque Alt"/>
              </a:rPr>
              <a:t>:</a:t>
            </a:r>
            <a:r>
              <a:rPr lang="en-US" sz="2800" b="1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 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wozokilometry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, tabor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i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koszt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roczny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przy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każdej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 </a:t>
            </a:r>
            <a:r>
              <a:rPr lang="en-US" sz="2800" dirty="0" err="1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propozycji</a:t>
            </a:r>
            <a:r>
              <a:rPr lang="en-US" sz="2800" dirty="0">
                <a:solidFill>
                  <a:srgbClr val="D6303C"/>
                </a:solidFill>
                <a:latin typeface="Galano Grotesque Alt"/>
                <a:ea typeface="Galano Grotesque Alt"/>
                <a:cs typeface="Galano Grotesque Alt"/>
                <a:sym typeface="Galano Grotesque Alt"/>
              </a:rPr>
              <a:t>.</a:t>
            </a:r>
          </a:p>
          <a:p>
            <a:endParaRPr lang="en-PL" sz="2800" dirty="0"/>
          </a:p>
        </p:txBody>
      </p:sp>
    </p:spTree>
    <p:extLst>
      <p:ext uri="{BB962C8B-B14F-4D97-AF65-F5344CB8AC3E}">
        <p14:creationId xmlns:p14="http://schemas.microsoft.com/office/powerpoint/2010/main" val="12519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06461" y="6337647"/>
            <a:ext cx="1077509" cy="0"/>
          </a:xfrm>
          <a:prstGeom prst="line">
            <a:avLst/>
          </a:prstGeom>
          <a:ln w="95250" cap="flat">
            <a:solidFill>
              <a:srgbClr val="FF534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L"/>
          </a:p>
        </p:txBody>
      </p:sp>
      <p:sp>
        <p:nvSpPr>
          <p:cNvPr id="3" name="Freeform 3"/>
          <p:cNvSpPr/>
          <p:nvPr/>
        </p:nvSpPr>
        <p:spPr>
          <a:xfrm flipH="1" flipV="1">
            <a:off x="0" y="0"/>
            <a:ext cx="6614109" cy="10287000"/>
          </a:xfrm>
          <a:custGeom>
            <a:avLst/>
            <a:gdLst/>
            <a:ahLst/>
            <a:cxnLst/>
            <a:rect l="l" t="t" r="r" b="b"/>
            <a:pathLst>
              <a:path w="6614109" h="10287000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2"/>
            <a:stretch>
              <a:fillRect t="-14295" r="-99999" b="-14295"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4" name="Freeform 4"/>
          <p:cNvSpPr/>
          <p:nvPr/>
        </p:nvSpPr>
        <p:spPr>
          <a:xfrm>
            <a:off x="-549266" y="1568427"/>
            <a:ext cx="8332289" cy="7150145"/>
          </a:xfrm>
          <a:custGeom>
            <a:avLst/>
            <a:gdLst/>
            <a:ahLst/>
            <a:cxnLst/>
            <a:rect l="l" t="t" r="r" b="b"/>
            <a:pathLst>
              <a:path w="8332289" h="7150145">
                <a:moveTo>
                  <a:pt x="0" y="0"/>
                </a:moveTo>
                <a:lnTo>
                  <a:pt x="8332288" y="0"/>
                </a:lnTo>
                <a:lnTo>
                  <a:pt x="8332288" y="7150146"/>
                </a:lnTo>
                <a:lnTo>
                  <a:pt x="0" y="715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L"/>
          </a:p>
        </p:txBody>
      </p:sp>
      <p:sp>
        <p:nvSpPr>
          <p:cNvPr id="5" name="TextBox 5"/>
          <p:cNvSpPr txBox="1"/>
          <p:nvPr/>
        </p:nvSpPr>
        <p:spPr>
          <a:xfrm>
            <a:off x="9144000" y="2541980"/>
            <a:ext cx="753997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0"/>
              </a:lnSpc>
            </a:pPr>
            <a:r>
              <a:rPr lang="en-US" sz="12000" b="1" spc="-48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Dziękujemy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46748" y="7058903"/>
            <a:ext cx="433722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The Bills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409</Words>
  <Application>Microsoft Macintosh PowerPoint</Application>
  <PresentationFormat>Custom</PresentationFormat>
  <Paragraphs>66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Roboto Bold</vt:lpstr>
      <vt:lpstr>PT Serif</vt:lpstr>
      <vt:lpstr>Galano Grotesque Alt</vt:lpstr>
      <vt:lpstr>Arial</vt:lpstr>
      <vt:lpstr>Aptos</vt:lpstr>
      <vt:lpstr>Galano Grotesque Alt Bold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JakZbuduje</dc:title>
  <cp:lastModifiedBy>Patryk Basiak</cp:lastModifiedBy>
  <cp:revision>2</cp:revision>
  <dcterms:created xsi:type="dcterms:W3CDTF">2006-08-16T00:00:00Z</dcterms:created>
  <dcterms:modified xsi:type="dcterms:W3CDTF">2026-10-18T08:39:06Z</dcterms:modified>
  <dc:identifier>DAHYVjRROhs</dc:identifier>
</cp:coreProperties>
</file>